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5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2-Acre Moringa Drip Irrigation</a:t>
            </a:r>
          </a:p>
        </p:txBody>
      </p:sp>
      <p:sp>
        <p:nvSpPr>
          <p:cNvPr id="26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Stage-by-Stage Engineering Execution Briefing</a:t>
            </a:r>
          </a:p>
          <a:p>
            <a:r>
              <a:rPr/>
              <a:t>Author: ArtCraft Suite (DeckCraft &amp; CADCraft)</a:t>
            </a:r>
          </a:p>
          <a:p>
            <a:r>
              <a:rPr/>
              <a:t>Project Scope: Solar Borewell Head, 2" Mainline, 8 Risers, 56 Laterals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Stage 1: Borewell Head &amp; 2" Mainline Routing</a:t>
            </a:r>
          </a:p>
        </p:txBody>
      </p:sp>
      <p:sp>
        <p:nvSpPr>
          <p:cNvPr id="26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Solar Borewell Head Unit at (590, 20): 5 HP pump delivery with 2" NRV, Gate Valve, and 2" T-Type Filter.</a:t>
            </a:r>
          </a:p>
          <a:p>
            <a:r>
              <a:rPr/>
              <a:t>• Northward Mainline (80'-0"): 2" PVC Class 2 from Borewell to Corner Tee (590, 100).</a:t>
            </a:r>
          </a:p>
          <a:p>
            <a:r>
              <a:rPr/>
              <a:t>• Westward Mainline (90'-0"): From Corner Tee to Tee A (500, 100) — Plot A Center Entry.</a:t>
            </a:r>
          </a:p>
          <a:p>
            <a:r>
              <a:rPr/>
              <a:t>• Inter-Plot Mainline (215'-0"): Runs West from Tee A under Plot A &amp; 25ft buffer road to Tee B (285, 100).</a:t>
            </a:r>
          </a:p>
          <a:p>
            <a:r>
              <a:rPr/>
              <a:t>• Trench Depth: Minimum 2'-6" deep with 2" sand bed and 24-hr solvent cement cure.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Stage 2: Plot A Risers &amp; 24 Inline Trenches (PKM-1)</a:t>
            </a:r>
          </a:p>
        </p:txBody>
      </p:sp>
      <p:sp>
        <p:nvSpPr>
          <p:cNvPr id="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Center Mainline: Runs North 145'-0" from Tee A to End Cap (500, 245).</a:t>
            </a:r>
          </a:p>
          <a:p>
            <a:r>
              <a:rPr/>
              <a:t>• 4 Overhead Riser Stations: A1 (30'), A2 (60'), A3 (90'), A4 (120') with 4ft double-tee manifold.</a:t>
            </a:r>
          </a:p>
          <a:p>
            <a:r>
              <a:rPr/>
              <a:t>• Subline Network: 1.5" (50mm) PVC running 15ft South and 15ft North from each station (8 arms = 120 ft total).</a:t>
            </a:r>
          </a:p>
          <a:p>
            <a:r>
              <a:rPr/>
              <a:t>• 24 Active Trenches: Spaced 5ft apart with 50x16x2-way take-off collars (V-connectors).</a:t>
            </a:r>
          </a:p>
          <a:p>
            <a:r>
              <a:rPr/>
              <a:t>• Laterals: 16x4x40 Inline Pipe (2,926m total) running 195ft East and 195ft West for 3,000 PKM-1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Stage 3: Plot B Risers &amp; 32 Online Rows (Bhagya)</a:t>
            </a:r>
          </a:p>
        </p:txBody>
      </p:sp>
      <p:sp>
        <p:nvSpPr>
          <p:cNvPr id="2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East-Boundary Mainline: Runs North 240'-0" from Tee B along Plot B edge to End Cap (285, 340).</a:t>
            </a:r>
          </a:p>
          <a:p>
            <a:r>
              <a:rPr/>
              <a:t>• 4 Overhead Riser Stations: B1 (24'), B2 (88'), B3 (152'), B4 (216') with 2"x1.25" reducers.</a:t>
            </a:r>
          </a:p>
          <a:p>
            <a:r>
              <a:rPr/>
              <a:t>• Subline Network: 1.25" (40mm) PVC running 32ft South and 32ft North from each station (8 arms = 256 ft total).</a:t>
            </a:r>
          </a:p>
          <a:p>
            <a:r>
              <a:rPr/>
              <a:t>• 32 Active Rows: Spaced 8ft apart with 40x16x1-way TF collars pointing West only.</a:t>
            </a:r>
          </a:p>
          <a:p>
            <a:r>
              <a:rPr/>
              <a:t>• Plain Pipe &amp; Punching: 16mm Plain Pipe (1,610m) with 768 Tunning Drippers punched every 7ft (750 trees).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Stage 4: Systematic Flushing &amp; Pressure Testing</a:t>
            </a:r>
          </a:p>
        </p:txBody>
      </p:sp>
      <p:sp>
        <p:nvSpPr>
          <p:cNvPr id="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Phase A — Mainline Flush: Open 2" end caps at (500, 245) and (285, 340) for 5 mins to clear construction sand.</a:t>
            </a:r>
          </a:p>
          <a:p>
            <a:r>
              <a:rPr/>
              <a:t>• Phase B — Subline Flush: Close mainline; open all 16 flush valves (50mm &amp; 40mm) until discharge runs clear.</a:t>
            </a:r>
          </a:p>
          <a:p>
            <a:r>
              <a:rPr/>
              <a:t>• Phase C — Lateral Flush: Remove all 80 lateral endcaps (48 in Plot A + 32 in Plot B) for 3 mins.</a:t>
            </a:r>
          </a:p>
          <a:p>
            <a:r>
              <a:rPr/>
              <a:t>• Phase D — Pressure Test: Hold 2.5 kg/cm² test pressure for 60 mins; verify zero joint weeping and uniform emitter discharge.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Stage 5: Commissioning, Flow Audit &amp; Handover</a:t>
            </a:r>
          </a:p>
        </p:txBody>
      </p:sp>
      <p:sp>
        <p:nvSpPr>
          <p:cNvPr id="27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• Emitter Uniformity Audit: Catch-can sampling across 20 points per zone; target Christiansen Uniformity &gt; 92%.</a:t>
            </a:r>
          </a:p>
          <a:p>
            <a:r>
              <a:rPr/>
              <a:t>• Daily Irrigation Regimen: Plot A (3,000 plants @ 4 LPH = 12,000 LPH); Plot B (750 plants @ 35 LPH = 26,250 LPH peak).</a:t>
            </a:r>
          </a:p>
          <a:p>
            <a:r>
              <a:rPr/>
              <a:t>• Zone Rotation: Rotate irrigation between Zone 2 and Zone 3 to balance solar pump curve throughout peak sunlight hours.</a:t>
            </a:r>
          </a:p>
          <a:p>
            <a:r>
              <a:rPr/>
              <a:t>• Maintenance Protocol: Daily filter purge, weekly disc washing, monthly flush valve blow-out.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